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50A460-F7E8-4889-8593-1CCE3EEC7E7F}">
  <a:tblStyle styleId="{8350A460-F7E8-4889-8593-1CCE3EEC7E7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6e05c391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6e05c391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6e05c391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6e05c391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a6e05c391a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a6e05c391a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6e05c391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6e05c391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6e05c391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6e05c391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6e05c391a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6e05c391a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6e05c391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6e05c391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077fc85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077fc85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kaggle.com/organizations/cornelllabofornithology/competition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1468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4200"/>
              <a:t>Satisfactory Progress Presentation</a:t>
            </a:r>
            <a:endParaRPr sz="4200"/>
          </a:p>
        </p:txBody>
      </p:sp>
      <p:sp>
        <p:nvSpPr>
          <p:cNvPr id="55" name="Google Shape;55;p13"/>
          <p:cNvSpPr txBox="1"/>
          <p:nvPr>
            <p:ph idx="1" type="subTitle"/>
          </p:nvPr>
        </p:nvSpPr>
        <p:spPr>
          <a:xfrm>
            <a:off x="311700" y="22127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Bradley Smith - up2178845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Description - Aims and Objectives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My project is classifying bird species based on audio files of their calls with deep learning techniques.</a:t>
            </a:r>
            <a:endParaRPr/>
          </a:p>
          <a:p>
            <a:pPr indent="0" lvl="0" marL="0" rtl="0" algn="l">
              <a:spcBef>
                <a:spcPts val="1200"/>
              </a:spcBef>
              <a:spcAft>
                <a:spcPts val="0"/>
              </a:spcAft>
              <a:buNone/>
            </a:pPr>
            <a:r>
              <a:rPr lang="en-GB"/>
              <a:t>Initial Aim: create a model to classify over 100 species with an F1 score of at least 0.7, or classify </a:t>
            </a:r>
            <a:r>
              <a:rPr b="1" lang="en-GB"/>
              <a:t>up to</a:t>
            </a:r>
            <a:r>
              <a:rPr lang="en-GB"/>
              <a:t> 100 species with an F1 score of at least 0.9.</a:t>
            </a:r>
            <a:endParaRPr/>
          </a:p>
          <a:p>
            <a:pPr indent="0" lvl="0" marL="0" rtl="0" algn="l">
              <a:spcBef>
                <a:spcPts val="1200"/>
              </a:spcBef>
              <a:spcAft>
                <a:spcPts val="1200"/>
              </a:spcAft>
              <a:buNone/>
            </a:pPr>
            <a:r>
              <a:rPr lang="en-GB"/>
              <a:t>Updated Aim: create a model to classify at least 50 species of bird with an F1 score of at least 0.7.</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Dataset Description</a:t>
            </a:r>
            <a:endParaRPr/>
          </a:p>
        </p:txBody>
      </p:sp>
      <p:sp>
        <p:nvSpPr>
          <p:cNvPr id="67" name="Google Shape;67;p1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t>The dataset I am using is a combination of 5 Kaggle competition datasets titled “BirdCLEF” (plus an extra “Birdson</a:t>
            </a:r>
            <a:r>
              <a:rPr lang="en-GB" sz="1400"/>
              <a:t>g Recognition” dataset) hosted yearly by the Cornell Lab of Ornithology.</a:t>
            </a:r>
            <a:endParaRPr sz="1400"/>
          </a:p>
          <a:p>
            <a:pPr indent="0" lvl="0" marL="0" rtl="0" algn="l">
              <a:spcBef>
                <a:spcPts val="1200"/>
              </a:spcBef>
              <a:spcAft>
                <a:spcPts val="0"/>
              </a:spcAft>
              <a:buNone/>
            </a:pPr>
            <a:r>
              <a:rPr lang="en-GB" sz="1400" u="sng">
                <a:solidFill>
                  <a:schemeClr val="hlink"/>
                </a:solidFill>
                <a:hlinkClick r:id="rId3"/>
              </a:rPr>
              <a:t>https://www.kaggle.com/organizations/cornelllabofornithology/competitions</a:t>
            </a:r>
            <a:r>
              <a:rPr lang="en-GB" sz="1400"/>
              <a:t> </a:t>
            </a:r>
            <a:endParaRPr sz="1400"/>
          </a:p>
          <a:p>
            <a:pPr indent="0" lvl="0" marL="0" rtl="0" algn="l">
              <a:spcBef>
                <a:spcPts val="1200"/>
              </a:spcBef>
              <a:spcAft>
                <a:spcPts val="1200"/>
              </a:spcAft>
              <a:buNone/>
            </a:pPr>
            <a:r>
              <a:rPr lang="en-GB" sz="1400"/>
              <a:t>After combining and removing duplicate files, the total dataset size is 57.6GB, containing a total of 992 folders, and 112,861 audio files in .ogg and .mp3 format.</a:t>
            </a:r>
            <a:endParaRPr sz="1400"/>
          </a:p>
        </p:txBody>
      </p:sp>
      <p:graphicFrame>
        <p:nvGraphicFramePr>
          <p:cNvPr id="68" name="Google Shape;68;p15"/>
          <p:cNvGraphicFramePr/>
          <p:nvPr/>
        </p:nvGraphicFramePr>
        <p:xfrm>
          <a:off x="5288800" y="1383150"/>
          <a:ext cx="3000000" cy="3000000"/>
        </p:xfrm>
        <a:graphic>
          <a:graphicData uri="http://schemas.openxmlformats.org/drawingml/2006/table">
            <a:tbl>
              <a:tblPr>
                <a:noFill/>
                <a:tableStyleId>{8350A460-F7E8-4889-8593-1CCE3EEC7E7F}</a:tableStyleId>
              </a:tblPr>
              <a:tblGrid>
                <a:gridCol w="2506850"/>
                <a:gridCol w="1036650"/>
              </a:tblGrid>
              <a:tr h="381000">
                <a:tc>
                  <a:txBody>
                    <a:bodyPr/>
                    <a:lstStyle/>
                    <a:p>
                      <a:pPr indent="0" lvl="0" marL="0" rtl="0" algn="l">
                        <a:spcBef>
                          <a:spcPts val="0"/>
                        </a:spcBef>
                        <a:spcAft>
                          <a:spcPts val="0"/>
                        </a:spcAft>
                        <a:buNone/>
                      </a:pPr>
                      <a:r>
                        <a:rPr lang="en-GB"/>
                        <a:t>Dataset</a:t>
                      </a:r>
                      <a:endParaRPr/>
                    </a:p>
                  </a:txBody>
                  <a:tcPr marT="91425" marB="91425" marR="91425" marL="91425"/>
                </a:tc>
                <a:tc>
                  <a:txBody>
                    <a:bodyPr/>
                    <a:lstStyle/>
                    <a:p>
                      <a:pPr indent="0" lvl="0" marL="0" rtl="0" algn="l">
                        <a:spcBef>
                          <a:spcPts val="0"/>
                        </a:spcBef>
                        <a:spcAft>
                          <a:spcPts val="0"/>
                        </a:spcAft>
                        <a:buNone/>
                      </a:pPr>
                      <a:r>
                        <a:rPr lang="en-GB"/>
                        <a:t>Size (GB)</a:t>
                      </a:r>
                      <a:endParaRPr/>
                    </a:p>
                  </a:txBody>
                  <a:tcPr marT="91425" marB="91425" marR="91425" marL="91425"/>
                </a:tc>
              </a:tr>
              <a:tr h="381000">
                <a:tc>
                  <a:txBody>
                    <a:bodyPr/>
                    <a:lstStyle/>
                    <a:p>
                      <a:pPr indent="0" lvl="0" marL="0" rtl="0" algn="l">
                        <a:spcBef>
                          <a:spcPts val="0"/>
                        </a:spcBef>
                        <a:spcAft>
                          <a:spcPts val="0"/>
                        </a:spcAft>
                        <a:buNone/>
                      </a:pPr>
                      <a:r>
                        <a:rPr lang="en-GB"/>
                        <a:t>Birdsong Recognition (2020)</a:t>
                      </a:r>
                      <a:endParaRPr/>
                    </a:p>
                  </a:txBody>
                  <a:tcPr marT="91425" marB="91425" marR="91425" marL="91425"/>
                </a:tc>
                <a:tc>
                  <a:txBody>
                    <a:bodyPr/>
                    <a:lstStyle/>
                    <a:p>
                      <a:pPr indent="0" lvl="0" marL="0" rtl="0" algn="l">
                        <a:spcBef>
                          <a:spcPts val="0"/>
                        </a:spcBef>
                        <a:spcAft>
                          <a:spcPts val="0"/>
                        </a:spcAft>
                        <a:buNone/>
                      </a:pPr>
                      <a:r>
                        <a:rPr lang="en-GB"/>
                        <a:t>23.6</a:t>
                      </a:r>
                      <a:endParaRPr/>
                    </a:p>
                  </a:txBody>
                  <a:tcPr marT="91425" marB="91425" marR="91425" marL="91425"/>
                </a:tc>
              </a:tr>
              <a:tr h="381000">
                <a:tc>
                  <a:txBody>
                    <a:bodyPr/>
                    <a:lstStyle/>
                    <a:p>
                      <a:pPr indent="0" lvl="0" marL="0" rtl="0" algn="l">
                        <a:spcBef>
                          <a:spcPts val="0"/>
                        </a:spcBef>
                        <a:spcAft>
                          <a:spcPts val="0"/>
                        </a:spcAft>
                        <a:buNone/>
                      </a:pPr>
                      <a:r>
                        <a:rPr lang="en-GB"/>
                        <a:t>BirdCLEF-2021</a:t>
                      </a:r>
                      <a:endParaRPr/>
                    </a:p>
                  </a:txBody>
                  <a:tcPr marT="91425" marB="91425" marR="91425" marL="91425"/>
                </a:tc>
                <a:tc>
                  <a:txBody>
                    <a:bodyPr/>
                    <a:lstStyle/>
                    <a:p>
                      <a:pPr indent="0" lvl="0" marL="0" rtl="0" algn="l">
                        <a:spcBef>
                          <a:spcPts val="0"/>
                        </a:spcBef>
                        <a:spcAft>
                          <a:spcPts val="0"/>
                        </a:spcAft>
                        <a:buNone/>
                      </a:pPr>
                      <a:r>
                        <a:rPr lang="en-GB"/>
                        <a:t>39.2</a:t>
                      </a:r>
                      <a:endParaRPr/>
                    </a:p>
                  </a:txBody>
                  <a:tcPr marT="91425" marB="91425" marR="91425" marL="91425"/>
                </a:tc>
              </a:tr>
              <a:tr h="381000">
                <a:tc>
                  <a:txBody>
                    <a:bodyPr/>
                    <a:lstStyle/>
                    <a:p>
                      <a:pPr indent="0" lvl="0" marL="0" rtl="0" algn="l">
                        <a:spcBef>
                          <a:spcPts val="0"/>
                        </a:spcBef>
                        <a:spcAft>
                          <a:spcPts val="0"/>
                        </a:spcAft>
                        <a:buNone/>
                      </a:pPr>
                      <a:r>
                        <a:rPr lang="en-GB">
                          <a:solidFill>
                            <a:schemeClr val="dk1"/>
                          </a:solidFill>
                        </a:rPr>
                        <a:t>BirdCLEF-2022</a:t>
                      </a:r>
                      <a:endParaRPr/>
                    </a:p>
                  </a:txBody>
                  <a:tcPr marT="91425" marB="91425" marR="91425" marL="91425"/>
                </a:tc>
                <a:tc>
                  <a:txBody>
                    <a:bodyPr/>
                    <a:lstStyle/>
                    <a:p>
                      <a:pPr indent="0" lvl="0" marL="0" rtl="0" algn="l">
                        <a:spcBef>
                          <a:spcPts val="0"/>
                        </a:spcBef>
                        <a:spcAft>
                          <a:spcPts val="0"/>
                        </a:spcAft>
                        <a:buNone/>
                      </a:pPr>
                      <a:r>
                        <a:rPr lang="en-GB"/>
                        <a:t>6.2</a:t>
                      </a:r>
                      <a:endParaRPr/>
                    </a:p>
                  </a:txBody>
                  <a:tcPr marT="91425" marB="91425" marR="91425" marL="91425"/>
                </a:tc>
              </a:tr>
              <a:tr h="381000">
                <a:tc>
                  <a:txBody>
                    <a:bodyPr/>
                    <a:lstStyle/>
                    <a:p>
                      <a:pPr indent="0" lvl="0" marL="0" rtl="0" algn="l">
                        <a:spcBef>
                          <a:spcPts val="0"/>
                        </a:spcBef>
                        <a:spcAft>
                          <a:spcPts val="0"/>
                        </a:spcAft>
                        <a:buNone/>
                      </a:pPr>
                      <a:r>
                        <a:rPr lang="en-GB">
                          <a:solidFill>
                            <a:schemeClr val="dk1"/>
                          </a:solidFill>
                        </a:rPr>
                        <a:t>BirdCLEF-2023</a:t>
                      </a:r>
                      <a:endParaRPr/>
                    </a:p>
                  </a:txBody>
                  <a:tcPr marT="91425" marB="91425" marR="91425" marL="91425"/>
                </a:tc>
                <a:tc>
                  <a:txBody>
                    <a:bodyPr/>
                    <a:lstStyle/>
                    <a:p>
                      <a:pPr indent="0" lvl="0" marL="0" rtl="0" algn="l">
                        <a:spcBef>
                          <a:spcPts val="0"/>
                        </a:spcBef>
                        <a:spcAft>
                          <a:spcPts val="0"/>
                        </a:spcAft>
                        <a:buNone/>
                      </a:pPr>
                      <a:r>
                        <a:rPr lang="en-GB"/>
                        <a:t>5.0</a:t>
                      </a:r>
                      <a:endParaRPr/>
                    </a:p>
                  </a:txBody>
                  <a:tcPr marT="91425" marB="91425" marR="91425" marL="91425"/>
                </a:tc>
              </a:tr>
              <a:tr h="381000">
                <a:tc>
                  <a:txBody>
                    <a:bodyPr/>
                    <a:lstStyle/>
                    <a:p>
                      <a:pPr indent="0" lvl="0" marL="0" rtl="0" algn="l">
                        <a:spcBef>
                          <a:spcPts val="0"/>
                        </a:spcBef>
                        <a:spcAft>
                          <a:spcPts val="0"/>
                        </a:spcAft>
                        <a:buNone/>
                      </a:pPr>
                      <a:r>
                        <a:rPr lang="en-GB">
                          <a:solidFill>
                            <a:schemeClr val="dk1"/>
                          </a:solidFill>
                        </a:rPr>
                        <a:t>BirdCLEF-2024</a:t>
                      </a:r>
                      <a:endParaRPr/>
                    </a:p>
                  </a:txBody>
                  <a:tcPr marT="91425" marB="91425" marR="91425" marL="91425"/>
                </a:tc>
                <a:tc>
                  <a:txBody>
                    <a:bodyPr/>
                    <a:lstStyle/>
                    <a:p>
                      <a:pPr indent="0" lvl="0" marL="0" rtl="0" algn="l">
                        <a:spcBef>
                          <a:spcPts val="0"/>
                        </a:spcBef>
                        <a:spcAft>
                          <a:spcPts val="0"/>
                        </a:spcAft>
                        <a:buNone/>
                      </a:pPr>
                      <a:r>
                        <a:rPr lang="en-GB"/>
                        <a:t>7.3</a:t>
                      </a:r>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Existing Literature</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Gairí, P., Pallejà, T., Tresanchez, M., 2025 - Environmental sound recognition on embedded devices using deep learning: a review</a:t>
            </a:r>
            <a:endParaRPr/>
          </a:p>
          <a:p>
            <a:pPr indent="-317500" lvl="1" marL="914400" rtl="0" algn="l">
              <a:spcBef>
                <a:spcPts val="0"/>
              </a:spcBef>
              <a:spcAft>
                <a:spcPts val="0"/>
              </a:spcAft>
              <a:buSzPts val="1400"/>
              <a:buChar char="○"/>
            </a:pPr>
            <a:r>
              <a:rPr lang="en-GB"/>
              <a:t>Examines multiple types of deep learning approaches on low computational complexity devices for classification of audio recordings. Compares output class counts, approaches taken, preprocessing steps, etc. Highest output class count is 200 classes (Choudhary et al, 2022).</a:t>
            </a:r>
            <a:endParaRPr/>
          </a:p>
          <a:p>
            <a:pPr indent="-342900" lvl="0" marL="457200" rtl="0" algn="l">
              <a:spcBef>
                <a:spcPts val="0"/>
              </a:spcBef>
              <a:spcAft>
                <a:spcPts val="0"/>
              </a:spcAft>
              <a:buSzPts val="1800"/>
              <a:buChar char="●"/>
            </a:pPr>
            <a:r>
              <a:rPr lang="en-GB"/>
              <a:t>Kareem, N. A., Rajan, R., 2023 - Multi-Label Bird Species Classification Using Sequential Aggregation Strategy From Audio Recordings</a:t>
            </a:r>
            <a:endParaRPr/>
          </a:p>
          <a:p>
            <a:pPr indent="-317500" lvl="1" marL="914400" rtl="0" algn="l">
              <a:spcBef>
                <a:spcPts val="0"/>
              </a:spcBef>
              <a:spcAft>
                <a:spcPts val="0"/>
              </a:spcAft>
              <a:buSzPts val="1400"/>
              <a:buChar char="○"/>
            </a:pPr>
            <a:r>
              <a:rPr lang="en-GB"/>
              <a:t>Investigates and applies numerous models and approaches in a multi-label classification setting of bird call audio files, which is applicable to single-label classification. It covers topics such as sequential aggregation and mel-frequency spectrograms while experimenting with transfer learning on existing models such as CNNs, LSTMs and DNNs.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Methodology to Achieving Final Aim</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t>For my final model, I will likely use a form of convolutional neural network, and apply it to mel-spectrograms of the audio recordings.</a:t>
            </a:r>
            <a:endParaRPr/>
          </a:p>
          <a:p>
            <a:pPr indent="0" lvl="0" marL="0" rtl="0" algn="l">
              <a:spcBef>
                <a:spcPts val="1200"/>
              </a:spcBef>
              <a:spcAft>
                <a:spcPts val="0"/>
              </a:spcAft>
              <a:buNone/>
            </a:pPr>
            <a:r>
              <a:rPr lang="en-GB"/>
              <a:t>I will need to:</a:t>
            </a:r>
            <a:endParaRPr/>
          </a:p>
          <a:p>
            <a:pPr indent="-342900" lvl="0" marL="457200" rtl="0" algn="l">
              <a:spcBef>
                <a:spcPts val="1200"/>
              </a:spcBef>
              <a:spcAft>
                <a:spcPts val="0"/>
              </a:spcAft>
              <a:buSzPts val="1800"/>
              <a:buChar char="●"/>
            </a:pPr>
            <a:r>
              <a:rPr lang="en-GB"/>
              <a:t>Transform</a:t>
            </a:r>
            <a:r>
              <a:rPr lang="en-GB"/>
              <a:t> the audio data into mel-spectrogram sound clips for analysis.</a:t>
            </a:r>
            <a:endParaRPr/>
          </a:p>
          <a:p>
            <a:pPr indent="-342900" lvl="0" marL="457200" rtl="0" algn="l">
              <a:spcBef>
                <a:spcPts val="0"/>
              </a:spcBef>
              <a:spcAft>
                <a:spcPts val="0"/>
              </a:spcAft>
              <a:buSzPts val="1800"/>
              <a:buChar char="●"/>
            </a:pPr>
            <a:r>
              <a:rPr lang="en-GB"/>
              <a:t>Create consistency in model loading/training to ensure model predictive accuracy is not due to random chance.</a:t>
            </a:r>
            <a:endParaRPr/>
          </a:p>
          <a:p>
            <a:pPr indent="-342900" lvl="0" marL="457200" rtl="0" algn="l">
              <a:spcBef>
                <a:spcPts val="0"/>
              </a:spcBef>
              <a:spcAft>
                <a:spcPts val="0"/>
              </a:spcAft>
              <a:buSzPts val="1800"/>
              <a:buChar char="●"/>
            </a:pPr>
            <a:r>
              <a:rPr lang="en-GB"/>
              <a:t>Investigate post-model application techniques to improve accuracy on a per-file basis.</a:t>
            </a:r>
            <a:endParaRPr/>
          </a:p>
          <a:p>
            <a:pPr indent="-342900" lvl="0" marL="457200" rtl="0" algn="l">
              <a:spcBef>
                <a:spcPts val="0"/>
              </a:spcBef>
              <a:spcAft>
                <a:spcPts val="0"/>
              </a:spcAft>
              <a:buSzPts val="1800"/>
              <a:buChar char="●"/>
            </a:pPr>
            <a:r>
              <a:rPr lang="en-GB"/>
              <a:t>Investigate other model types via transfer learning to determine the most suitable model.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Development Timeline - Initial Gantt Chart</a:t>
            </a:r>
            <a:endParaRPr/>
          </a:p>
        </p:txBody>
      </p:sp>
      <p:pic>
        <p:nvPicPr>
          <p:cNvPr id="86" name="Google Shape;86;p18"/>
          <p:cNvPicPr preferRelativeResize="0"/>
          <p:nvPr/>
        </p:nvPicPr>
        <p:blipFill>
          <a:blip r:embed="rId3">
            <a:alphaModFix/>
          </a:blip>
          <a:stretch>
            <a:fillRect/>
          </a:stretch>
        </p:blipFill>
        <p:spPr>
          <a:xfrm>
            <a:off x="152400" y="1170125"/>
            <a:ext cx="8839204" cy="333628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Development Timeline - Updated Gantt Chart</a:t>
            </a:r>
            <a:endParaRPr/>
          </a:p>
        </p:txBody>
      </p:sp>
      <p:pic>
        <p:nvPicPr>
          <p:cNvPr id="92" name="Google Shape;92;p19"/>
          <p:cNvPicPr preferRelativeResize="0"/>
          <p:nvPr/>
        </p:nvPicPr>
        <p:blipFill>
          <a:blip r:embed="rId3">
            <a:alphaModFix/>
          </a:blip>
          <a:stretch>
            <a:fillRect/>
          </a:stretch>
        </p:blipFill>
        <p:spPr>
          <a:xfrm>
            <a:off x="0" y="1384102"/>
            <a:ext cx="9144003" cy="237529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Current Standing: What I Have and What Needs Doing</a:t>
            </a:r>
            <a:endParaRPr/>
          </a:p>
        </p:txBody>
      </p:sp>
      <p:sp>
        <p:nvSpPr>
          <p:cNvPr id="98" name="Google Shape;98;p20"/>
          <p:cNvSpPr txBox="1"/>
          <p:nvPr>
            <p:ph idx="1" type="body"/>
          </p:nvPr>
        </p:nvSpPr>
        <p:spPr>
          <a:xfrm>
            <a:off x="311700" y="1152475"/>
            <a:ext cx="4260300" cy="3416400"/>
          </a:xfrm>
          <a:prstGeom prst="rect">
            <a:avLst/>
          </a:prstGeom>
        </p:spPr>
        <p:txBody>
          <a:bodyPr anchorCtr="0" anchor="t" bIns="91425" lIns="91425" spcFirstLastPara="1" rIns="91425" wrap="square" tIns="91425">
            <a:normAutofit lnSpcReduction="10000"/>
          </a:bodyPr>
          <a:lstStyle/>
          <a:p>
            <a:pPr indent="0" lvl="0" marL="0" rtl="0" algn="l">
              <a:lnSpc>
                <a:spcPct val="105000"/>
              </a:lnSpc>
              <a:spcBef>
                <a:spcPts val="0"/>
              </a:spcBef>
              <a:spcAft>
                <a:spcPts val="0"/>
              </a:spcAft>
              <a:buSzPts val="935"/>
              <a:buNone/>
            </a:pPr>
            <a:r>
              <a:rPr lang="en-GB" sz="1300"/>
              <a:t>What I have:</a:t>
            </a:r>
            <a:endParaRPr sz="1300"/>
          </a:p>
          <a:p>
            <a:pPr indent="-311150" lvl="0" marL="457200" rtl="0" algn="l">
              <a:lnSpc>
                <a:spcPct val="105000"/>
              </a:lnSpc>
              <a:spcBef>
                <a:spcPts val="1200"/>
              </a:spcBef>
              <a:spcAft>
                <a:spcPts val="0"/>
              </a:spcAft>
              <a:buSzPts val="1300"/>
              <a:buChar char="●"/>
            </a:pPr>
            <a:r>
              <a:rPr lang="en-GB" sz="1300"/>
              <a:t>A simple CNN with 30% accuracy (50% top 5 accuracy) over 50 species with </a:t>
            </a:r>
            <a:r>
              <a:rPr b="1" lang="en-GB" sz="1300"/>
              <a:t>2 second sound clips</a:t>
            </a:r>
            <a:r>
              <a:rPr lang="en-GB" sz="1300"/>
              <a:t>.</a:t>
            </a:r>
            <a:endParaRPr sz="1300"/>
          </a:p>
          <a:p>
            <a:pPr indent="-311150" lvl="0" marL="457200" rtl="0" algn="l">
              <a:lnSpc>
                <a:spcPct val="105000"/>
              </a:lnSpc>
              <a:spcBef>
                <a:spcPts val="0"/>
              </a:spcBef>
              <a:spcAft>
                <a:spcPts val="0"/>
              </a:spcAft>
              <a:buSzPts val="1300"/>
              <a:buChar char="●"/>
            </a:pPr>
            <a:r>
              <a:rPr lang="en-GB" sz="1300"/>
              <a:t>Results with hyperparameter tuning, including learning rates, momentum/weight decay, dropout regularisation, batch training, random over/under/median sampling techniques, audio file splitting.</a:t>
            </a:r>
            <a:endParaRPr sz="1300"/>
          </a:p>
          <a:p>
            <a:pPr indent="-311150" lvl="0" marL="457200" rtl="0" algn="l">
              <a:lnSpc>
                <a:spcPct val="105000"/>
              </a:lnSpc>
              <a:spcBef>
                <a:spcPts val="0"/>
              </a:spcBef>
              <a:spcAft>
                <a:spcPts val="0"/>
              </a:spcAft>
              <a:buSzPts val="1300"/>
              <a:buChar char="●"/>
            </a:pPr>
            <a:r>
              <a:rPr lang="en-GB" sz="1300"/>
              <a:t>Optimised code for minimising memory, CPU and GPU core usage, while maximising model capabilities.</a:t>
            </a:r>
            <a:endParaRPr sz="1300"/>
          </a:p>
          <a:p>
            <a:pPr indent="-311150" lvl="0" marL="457200" rtl="0" algn="l">
              <a:lnSpc>
                <a:spcPct val="105000"/>
              </a:lnSpc>
              <a:spcBef>
                <a:spcPts val="0"/>
              </a:spcBef>
              <a:spcAft>
                <a:spcPts val="0"/>
              </a:spcAft>
              <a:buSzPts val="1300"/>
              <a:buChar char="●"/>
            </a:pPr>
            <a:r>
              <a:rPr lang="en-GB" sz="1300"/>
              <a:t>Model accountability for variable input shapes (to save time hard-coding figures after flattening, CNN layer output size, etc.)</a:t>
            </a:r>
            <a:endParaRPr sz="1300"/>
          </a:p>
        </p:txBody>
      </p:sp>
      <p:sp>
        <p:nvSpPr>
          <p:cNvPr id="99" name="Google Shape;99;p20"/>
          <p:cNvSpPr txBox="1"/>
          <p:nvPr>
            <p:ph idx="1" type="body"/>
          </p:nvPr>
        </p:nvSpPr>
        <p:spPr>
          <a:xfrm>
            <a:off x="4572000" y="1152475"/>
            <a:ext cx="4260300" cy="3776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SzPts val="853"/>
              <a:buNone/>
            </a:pPr>
            <a:r>
              <a:rPr lang="en-GB" sz="1300"/>
              <a:t>What needs doing:</a:t>
            </a:r>
            <a:endParaRPr sz="1300"/>
          </a:p>
          <a:p>
            <a:pPr indent="-311150" lvl="0" marL="457200" rtl="0" algn="l">
              <a:spcBef>
                <a:spcPts val="1200"/>
              </a:spcBef>
              <a:spcAft>
                <a:spcPts val="0"/>
              </a:spcAft>
              <a:buSzPts val="1300"/>
              <a:buChar char="●"/>
            </a:pPr>
            <a:r>
              <a:rPr lang="en-GB" sz="1300"/>
              <a:t>Proper write-up of literature review. Complete by mid-January at the latest. Continue to investigate papers after.</a:t>
            </a:r>
            <a:endParaRPr sz="1300"/>
          </a:p>
          <a:p>
            <a:pPr indent="-311150" lvl="0" marL="457200" rtl="0" algn="l">
              <a:spcBef>
                <a:spcPts val="0"/>
              </a:spcBef>
              <a:spcAft>
                <a:spcPts val="0"/>
              </a:spcAft>
              <a:buSzPts val="1300"/>
              <a:buChar char="●"/>
            </a:pPr>
            <a:r>
              <a:rPr lang="en-GB" sz="1300"/>
              <a:t>Deeper preprocessing exploration, analysis of class and file size distribution, identifying and/or removing “ambient noise” from sound.</a:t>
            </a:r>
            <a:endParaRPr sz="1300"/>
          </a:p>
          <a:p>
            <a:pPr indent="-311150" lvl="0" marL="457200" rtl="0" algn="l">
              <a:spcBef>
                <a:spcPts val="0"/>
              </a:spcBef>
              <a:spcAft>
                <a:spcPts val="0"/>
              </a:spcAft>
              <a:buSzPts val="1300"/>
              <a:buChar char="●"/>
            </a:pPr>
            <a:r>
              <a:rPr lang="en-GB" sz="1300"/>
              <a:t>Experimentation of different models (Transfer Learning, LSTM/RNN, DNN, etc.)</a:t>
            </a:r>
            <a:endParaRPr sz="1300"/>
          </a:p>
          <a:p>
            <a:pPr indent="-311150" lvl="0" marL="457200" rtl="0" algn="l">
              <a:spcBef>
                <a:spcPts val="0"/>
              </a:spcBef>
              <a:spcAft>
                <a:spcPts val="0"/>
              </a:spcAft>
              <a:buSzPts val="1300"/>
              <a:buChar char="●"/>
            </a:pPr>
            <a:r>
              <a:rPr lang="en-GB" sz="1300"/>
              <a:t>Experimentation of file splits and their effects. Sequential aggregation + analysing full files vs smaller splits.</a:t>
            </a:r>
            <a:endParaRPr sz="1300"/>
          </a:p>
          <a:p>
            <a:pPr indent="-311150" lvl="0" marL="457200" rtl="0" algn="l">
              <a:spcBef>
                <a:spcPts val="0"/>
              </a:spcBef>
              <a:spcAft>
                <a:spcPts val="0"/>
              </a:spcAft>
              <a:buSzPts val="1300"/>
              <a:buChar char="●"/>
            </a:pPr>
            <a:r>
              <a:rPr lang="en-GB" sz="1300"/>
              <a:t>Calculation of statistical metrics (F1 score, precision, recall, macro-averaging)</a:t>
            </a:r>
            <a:endParaRPr sz="1300"/>
          </a:p>
          <a:p>
            <a:pPr indent="-311150" lvl="0" marL="457200" rtl="0" algn="l">
              <a:spcBef>
                <a:spcPts val="0"/>
              </a:spcBef>
              <a:spcAft>
                <a:spcPts val="0"/>
              </a:spcAft>
              <a:buSzPts val="1300"/>
              <a:buChar char="●"/>
            </a:pPr>
            <a:r>
              <a:rPr lang="en-GB" sz="1300"/>
              <a:t>Development of a prototype app to visually showcase the capabilities of the final model.</a:t>
            </a:r>
            <a:endParaRPr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Sample Model Training Outputs</a:t>
            </a:r>
            <a:endParaRPr/>
          </a:p>
        </p:txBody>
      </p:sp>
      <p:pic>
        <p:nvPicPr>
          <p:cNvPr id="105" name="Google Shape;105;p21"/>
          <p:cNvPicPr preferRelativeResize="0"/>
          <p:nvPr/>
        </p:nvPicPr>
        <p:blipFill>
          <a:blip r:embed="rId3">
            <a:alphaModFix/>
          </a:blip>
          <a:stretch>
            <a:fillRect/>
          </a:stretch>
        </p:blipFill>
        <p:spPr>
          <a:xfrm>
            <a:off x="311700" y="1017725"/>
            <a:ext cx="4260300" cy="2964642"/>
          </a:xfrm>
          <a:prstGeom prst="rect">
            <a:avLst/>
          </a:prstGeom>
          <a:noFill/>
          <a:ln>
            <a:noFill/>
          </a:ln>
        </p:spPr>
      </p:pic>
      <p:pic>
        <p:nvPicPr>
          <p:cNvPr id="106" name="Google Shape;106;p21"/>
          <p:cNvPicPr preferRelativeResize="0"/>
          <p:nvPr/>
        </p:nvPicPr>
        <p:blipFill>
          <a:blip r:embed="rId4">
            <a:alphaModFix/>
          </a:blip>
          <a:stretch>
            <a:fillRect/>
          </a:stretch>
        </p:blipFill>
        <p:spPr>
          <a:xfrm>
            <a:off x="4572000" y="1017725"/>
            <a:ext cx="4260300" cy="29646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